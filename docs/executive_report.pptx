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182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Jess 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CPG &amp; Retail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9B8E"/>
                </a:solidFill>
              </a:rPr>
              <a:t>Executive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A90"/>
                </a:solidFill>
              </a:rPr>
              <a:t>2023–2024  ·  Full Year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212080"/>
            <a:ext cx="12188952" cy="1280160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$78.8M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$15.0M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Media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2.21×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Blended ROAS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2.6%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Win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0"/>
                </a:solidFill>
              </a:rPr>
              <a:t>Generated May 04,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2E4A"/>
                </a:solidFill>
              </a:defRPr>
            </a:pPr>
            <a:r>
              <a:t>• $78.8M total revenue — online +8.3% MoM, offline dominates at 63% of total</a:t>
            </a:r>
          </a:p>
          <a:p>
            <a:pPr>
              <a:spcAft>
                <a:spcPts val="600"/>
              </a:spcAft>
              <a:defRPr sz="1300">
                <a:solidFill>
                  <a:srgbClr val="1A2E4A"/>
                </a:solidFill>
              </a:defRPr>
            </a:pPr>
            <a:r>
              <a:t>• Blended ROAS of 2.21× signals media inefficiency — Email (6.39×) is severely underfunded vs. Display (1.81×) and Reddit (1.61×)</a:t>
            </a:r>
          </a:p>
          <a:p>
            <a:pPr>
              <a:spcAft>
                <a:spcPts val="600"/>
              </a:spcAft>
              <a:defRPr sz="1300">
                <a:solidFill>
                  <a:srgbClr val="1A2E4A"/>
                </a:solidFill>
              </a:defRPr>
            </a:pPr>
            <a:r>
              <a:t>• 2.62% funnel win rate is the most urgent issue — 97.4% of 25K leads never convert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914400"/>
            <a:ext cx="3840480" cy="11887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0" y="1051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$78.8M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Combined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240280"/>
            <a:ext cx="3840480" cy="1188720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$15.0M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Media Spend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3566160"/>
            <a:ext cx="3840480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3703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2.21×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Blended ROAS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4892040"/>
            <a:ext cx="3840480" cy="1188720"/>
          </a:xfrm>
          <a:prstGeom prst="rect">
            <a:avLst/>
          </a:prstGeom>
          <a:solidFill>
            <a:srgbClr val="F0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2.6%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Win Rate (target 5–8%)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Marketing Channel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B76A"/>
                </a:solidFill>
              </a:rPr>
              <a:t>▲ Top Performers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4438"/>
                </a:solidFill>
              </a:rPr>
              <a:t>▼ Needs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657600" cy="1920240"/>
          </a:xfrm>
          <a:prstGeom prst="rect">
            <a:avLst/>
          </a:prstGeom>
          <a:solidFill>
            <a:srgbClr val="F4F7FB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73152" cy="1920240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822960" cy="384048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6.39×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4630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E4A"/>
                </a:solidFill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74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</a:rPr>
              <a:t>$527K spend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Most efficient channel — severely underfunded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3657600" cy="1920240"/>
          </a:xfrm>
          <a:prstGeom prst="rect">
            <a:avLst/>
          </a:prstGeom>
          <a:solidFill>
            <a:srgbClr val="F4F7FB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280160"/>
            <a:ext cx="73152" cy="1920240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463040"/>
            <a:ext cx="822960" cy="384048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46304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2.60×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4630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E4A"/>
                </a:solidFill>
              </a:rPr>
              <a:t>FB / Instagram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874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</a:rPr>
              <a:t>$1.65M spend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2860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#1 lead source — dual revenue &amp; pipeline impact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280160"/>
            <a:ext cx="3657600" cy="1920240"/>
          </a:xfrm>
          <a:prstGeom prst="rect">
            <a:avLst/>
          </a:prstGeom>
          <a:solidFill>
            <a:srgbClr val="F4F7FB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280160"/>
            <a:ext cx="73152" cy="1920240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66760" y="1463040"/>
            <a:ext cx="822960" cy="384048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46304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2.53×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4630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E4A"/>
                </a:solidFill>
              </a:rPr>
              <a:t>Paid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874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</a:rPr>
              <a:t>$2.1M spend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2860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High-intent, above-blended-average ROAS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749039"/>
            <a:ext cx="3657600" cy="1920240"/>
          </a:xfrm>
          <a:prstGeom prst="rect">
            <a:avLst/>
          </a:prstGeom>
          <a:solidFill>
            <a:srgbClr val="F4F7FB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749039"/>
            <a:ext cx="73152" cy="1920240"/>
          </a:xfrm>
          <a:prstGeom prst="rect">
            <a:avLst/>
          </a:prstGeom>
          <a:solidFill>
            <a:srgbClr val="F0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3931919"/>
            <a:ext cx="822960" cy="384048"/>
          </a:xfrm>
          <a:prstGeom prst="rect">
            <a:avLst/>
          </a:prstGeom>
          <a:solidFill>
            <a:srgbClr val="F0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931919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1.61×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39319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E4A"/>
                </a:solidFill>
              </a:rPr>
              <a:t>Reddit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3433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</a:rPr>
              <a:t>$588K spend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75487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Lowest ROAS — skeptical audience, weak targeting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749039"/>
            <a:ext cx="3657600" cy="1920240"/>
          </a:xfrm>
          <a:prstGeom prst="rect">
            <a:avLst/>
          </a:prstGeom>
          <a:solidFill>
            <a:srgbClr val="F4F7FB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3749039"/>
            <a:ext cx="73152" cy="1920240"/>
          </a:xfrm>
          <a:prstGeom prst="rect">
            <a:avLst/>
          </a:prstGeom>
          <a:solidFill>
            <a:srgbClr val="F0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26280" y="3931919"/>
            <a:ext cx="822960" cy="384048"/>
          </a:xfrm>
          <a:prstGeom prst="rect">
            <a:avLst/>
          </a:prstGeom>
          <a:solidFill>
            <a:srgbClr val="F0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931919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1.81×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9319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E4A"/>
                </a:solidFill>
              </a:rPr>
              <a:t>Display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43433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</a:rPr>
              <a:t>$1.44M spend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475487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Broad programmatic — viewability &amp; targeting issues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3749039"/>
            <a:ext cx="3657600" cy="1920240"/>
          </a:xfrm>
          <a:prstGeom prst="rect">
            <a:avLst/>
          </a:prstGeom>
          <a:solidFill>
            <a:srgbClr val="F4F7FB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3749039"/>
            <a:ext cx="73152" cy="1920240"/>
          </a:xfrm>
          <a:prstGeom prst="rect">
            <a:avLst/>
          </a:prstGeom>
          <a:solidFill>
            <a:srgbClr val="F0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66760" y="3931919"/>
            <a:ext cx="822960" cy="384048"/>
          </a:xfrm>
          <a:prstGeom prst="rect">
            <a:avLst/>
          </a:prstGeom>
          <a:solidFill>
            <a:srgbClr val="F0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3931919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1.83×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39319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E4A"/>
                </a:solidFill>
              </a:rPr>
              <a:t>TikTok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3433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</a:rPr>
              <a:t>$1.21M spend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475487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Creative fatigue — needs refresh or budget cut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Budget Optimizer — Same Spend, More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A90"/>
                </a:solidFill>
              </a:rPr>
              <a:t>Shift $970K from low-ROAS channels into Email, Paid Search, and FB/IG. Total budget unchanged at $15.0M.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474720" cy="1188720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$970K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Reallocated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91640"/>
            <a:ext cx="3474720" cy="118872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+$2.1M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Proj. Revenue Gain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91640"/>
            <a:ext cx="3474720" cy="11887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2.21×→2.35×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Blended ROAS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11430000" cy="2926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4553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1455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ROAS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1455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1455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Optimized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1455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145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19856"/>
            <a:ext cx="11430000" cy="34747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5643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4564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B76A"/>
                </a:solidFill>
              </a:rPr>
              <a:t>6.39×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4564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$527K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4564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$1,327K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4564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B76A"/>
                </a:solidFill>
              </a:rPr>
              <a:t>+$800K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4564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Scale 2.5×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85616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82219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Paid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8221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B76A"/>
                </a:solidFill>
              </a:rPr>
              <a:t>2.53×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8221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$2,105K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8221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$2,205K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8221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B76A"/>
                </a:solidFill>
              </a:rPr>
              <a:t>+$100K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8221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Increase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151376"/>
            <a:ext cx="11430000" cy="34747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1879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FB / IG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41879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B76A"/>
                </a:solidFill>
              </a:rPr>
              <a:t>2.60×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41879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$1,654K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1879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$1,724K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41879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B76A"/>
                </a:solidFill>
              </a:rPr>
              <a:t>+$70K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1879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Increase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517136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5537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TV/CTV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45537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A623"/>
                </a:solidFill>
              </a:rPr>
              <a:t>2.34×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45537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$5,606K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45537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$5,606K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45537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45537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Hold (brand)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882896"/>
            <a:ext cx="11430000" cy="34747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9194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Influencer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4919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A623"/>
                </a:solidFill>
              </a:rPr>
              <a:t>2.29×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4919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$1,854K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4919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$1,854K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4919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49194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Hold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248656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28523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TikTok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4560" y="52852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4438"/>
                </a:solidFill>
              </a:rPr>
              <a:t>1.83×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74720" y="52852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$1,209K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0" y="52852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$846K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0" y="52852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4438"/>
                </a:solidFill>
              </a:rPr>
              <a:t>−$363K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52852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Reduce 30%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614416"/>
            <a:ext cx="11430000" cy="34747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65099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Display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94560" y="56509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4438"/>
                </a:solidFill>
              </a:rPr>
              <a:t>1.81×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74720" y="56509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$1,437K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54880" y="56509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$1,006K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35040" y="56509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4438"/>
                </a:solidFill>
              </a:rPr>
              <a:t>−$431K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56509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Reduce 30%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5980176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0167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Reddit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94560" y="60167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4438"/>
                </a:solidFill>
              </a:rPr>
              <a:t>1.61×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74720" y="60167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$588K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0" y="60167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$411K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35040" y="60167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4438"/>
                </a:solidFill>
              </a:rPr>
              <a:t>−$176K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0" y="60167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Reduce 30%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5379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</a:rPr>
              <a:t>* Incremental revenue assumes 55% of gross ROAS delta applies at margin (accounts for diminishing returns as Email scales).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Sales Funnel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4A"/>
                </a:solidFill>
              </a:rPr>
              <a:t>Funnel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</a:rPr>
              <a:t>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173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A90"/>
                </a:solidFill>
              </a:rPr>
              <a:t>25,019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463040"/>
            <a:ext cx="2743200" cy="201168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0" y="1463040"/>
            <a:ext cx="2743200" cy="201168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14173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8E"/>
                </a:solidFill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</a:rPr>
              <a:t>MQL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860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A90"/>
                </a:solidFill>
              </a:rPr>
              <a:t>9,508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331720"/>
            <a:ext cx="2743200" cy="201168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8960" y="2331720"/>
            <a:ext cx="1042415" cy="201168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97095" y="228600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8E"/>
                </a:solidFill>
              </a:rPr>
              <a:t>38%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</a:rPr>
              <a:t>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1546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A90"/>
                </a:solidFill>
              </a:rPr>
              <a:t>5,754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200400"/>
            <a:ext cx="2743200" cy="201168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60" y="3200400"/>
            <a:ext cx="630936" cy="201168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6" y="3154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8E"/>
                </a:solidFill>
              </a:rPr>
              <a:t>23%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233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</a:rPr>
              <a:t>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0233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A90"/>
                </a:solidFill>
              </a:rPr>
              <a:t>3,510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4069080"/>
            <a:ext cx="2743200" cy="201168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08960" y="4069080"/>
            <a:ext cx="384048" cy="2011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8728" y="40233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8E"/>
                </a:solidFill>
              </a:rPr>
              <a:t>14%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920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</a:rPr>
              <a:t>Closed Won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8920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A90"/>
                </a:solidFill>
              </a:rPr>
              <a:t>655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4937760"/>
            <a:ext cx="2743200" cy="201168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4937760"/>
            <a:ext cx="71323" cy="201168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26003" y="489204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8E"/>
                </a:solidFill>
              </a:rPr>
              <a:t>2.6%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760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4438"/>
                </a:solidFill>
              </a:rPr>
              <a:t>2.62% win rate vs 5–8% CPG benchmark — 97.4% of leads are lost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914400"/>
            <a:ext cx="18288" cy="5303520"/>
          </a:xfrm>
          <a:prstGeom prst="rect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960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4A"/>
                </a:solidFill>
              </a:rPr>
              <a:t>Key Recommendations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1490472"/>
            <a:ext cx="201168" cy="201168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14173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4A"/>
                </a:solidFill>
              </a:rPr>
              <a:t>Implement lead scoring immediately: Segment the 25K leads by source, engagement level, and…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679192"/>
            <a:ext cx="201168" cy="201168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26060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4A"/>
                </a:solidFill>
              </a:rPr>
              <a:t>Audit the mid-funnel: Map the drop-off points between lead capture and closed-won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867912"/>
            <a:ext cx="201168" cy="201168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37947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4A"/>
                </a:solidFill>
              </a:rPr>
              <a:t>Launch a formal referral program: Referral is the bottom lead source but historically the 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5056632"/>
            <a:ext cx="201168" cy="201168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49834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4A"/>
                </a:solidFill>
              </a:rPr>
              <a:t>Tighten the Facebook/Instagram-to-sales handoff: As the #1 lead source feeding a low-conve…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Risks &amp;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4438"/>
                </a:solidFill>
              </a:rPr>
              <a:t>⚠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4864" cy="1188720"/>
          </a:xfrm>
          <a:prstGeom prst="rect">
            <a:avLst/>
          </a:prstGeom>
          <a:solidFill>
            <a:srgbClr val="F0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</a:rPr>
              <a:t>2.62% funnel win rate is burning acquisition investment — at current CPLs, the business is…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476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</a:rPr>
              <a:t>→ Launch a lead quality audit and scoring system within 30 days. Pause or redirect…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54864" cy="1188720"/>
          </a:xfrm>
          <a:prstGeom prst="rect">
            <a:avLst/>
          </a:prstGeom>
          <a:solidFill>
            <a:srgbClr val="F0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834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</a:rPr>
              <a:t>TV/CTV commands 37% of media budget ($5.6M) with only 2.34 ROAS and no incrementality vali…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3649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</a:rPr>
              <a:t>→ Commission a geo-holdout or incrementality test on TV/CTV within this quarter. I…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51960"/>
            <a:ext cx="54864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2519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</a:rPr>
              <a:t>Over-reliance on Northeast region (27.4% of offline revenue)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7823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</a:rPr>
              <a:t>→ Develop a Southwest and West growth plan targeting the $5-6M gap to Northeast, w…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914400"/>
            <a:ext cx="18288" cy="5486400"/>
          </a:xfrm>
          <a:prstGeom prst="rect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9326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B76A"/>
                </a:solidFill>
              </a:rPr>
              <a:t>✦ Opportunities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417320"/>
            <a:ext cx="54864" cy="118872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417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</a:rPr>
              <a:t>Scale Email channel from $527K to $1M+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9476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</a:rPr>
              <a:t>Impact: $2.0-3.0M incremental revenue on $500K additional spend  ·  30 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834640"/>
            <a:ext cx="54864" cy="118872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8346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</a:rPr>
              <a:t>Fix funnel conversion from 2.62% to 4.0% through lead scoring, mid-funnel nurture automati…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3649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</a:rPr>
              <a:t>Impact: $16.6M in additional closed-won pipeline (345 deals × $48K average deal value)  ·  60-90 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251960"/>
            <a:ext cx="54864" cy="118872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42519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</a:rPr>
              <a:t>Launch a structured customer referral program to activate the weakest but highest-potentia…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7823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</a:rPr>
              <a:t>Impact: $5-8M in high-quality pipeline within 6 months if referral volume reaches 2,000+ leads  ·  60 days to launch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Recommended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384048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247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1078992"/>
            <a:ext cx="914400" cy="274320"/>
          </a:xfrm>
          <a:prstGeom prst="rect">
            <a:avLst/>
          </a:prstGeom>
          <a:solidFill>
            <a:srgbClr val="F0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10789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IMMEDIATE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00584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A"/>
                </a:solidFill>
              </a:rPr>
              <a:t>Implement lead scoring and audit the full sales funnel to diagnose why 97.4% of leads are not converting.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0"/>
                </a:solidFill>
              </a:rPr>
              <a:t>↗ Improving win rate from 2.62% to 4.0% unlocks ~$16.6M in incremental pipeline value on the same lead volume.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11247120" cy="9144"/>
          </a:xfrm>
          <a:prstGeom prst="rect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384048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0" y="2103120"/>
            <a:ext cx="914400" cy="274320"/>
          </a:xfrm>
          <a:prstGeom prst="rect">
            <a:avLst/>
          </a:prstGeom>
          <a:solidFill>
            <a:srgbClr val="F0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IMMEDIATE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02996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A"/>
                </a:solidFill>
              </a:rPr>
              <a:t>Double the Email marketing budget from $527K to $1M and expand list segmentation, automation flows, and re-engagement campaigns.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8716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0"/>
                </a:solidFill>
              </a:rPr>
              <a:t>↗ $2.0-3.0M in incremental revenue at a projected 4.0+ ROAS — the highest-efficiency dollar the business can deploy.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44368"/>
            <a:ext cx="11247120" cy="9144"/>
          </a:xfrm>
          <a:prstGeom prst="rect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27248"/>
            <a:ext cx="384048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7296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0" y="3127248"/>
            <a:ext cx="914400" cy="274320"/>
          </a:xfrm>
          <a:prstGeom prst="rect">
            <a:avLst/>
          </a:prstGeom>
          <a:solidFill>
            <a:srgbClr val="F0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0" y="3127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IMMEDIATE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05409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A"/>
                </a:solidFill>
              </a:rPr>
              <a:t>Reallocate $800K from Reddit and Display into Facebook/Instagram and Paid Search, the two highest-performing scaled channels.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5112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0"/>
                </a:solidFill>
              </a:rPr>
              <a:t>↗ $400-600K in incremental revenue by shifting spend from sub-2.0 ROAS channels to 2.5+ ROAS channels.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68496"/>
            <a:ext cx="11247120" cy="9144"/>
          </a:xfrm>
          <a:prstGeom prst="rect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151376"/>
            <a:ext cx="384048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1970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0" y="4151376"/>
            <a:ext cx="914400" cy="274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0" y="41513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THIS QTR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A"/>
                </a:solidFill>
              </a:rPr>
              <a:t>Run a geo-holdout incrementality test on TV/CTV to validate whether the $5.6M spend is truly driving incremental revenue or captur…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53542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0"/>
                </a:solidFill>
              </a:rPr>
              <a:t>↗ De-risks the single largest budget line (37% of spend). If incremental ROAS is below 1.5, freeing $1-2M for reallocation could generate $3-5M in better-attributed revenue.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92624"/>
            <a:ext cx="11247120" cy="9144"/>
          </a:xfrm>
          <a:prstGeom prst="rect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175504"/>
            <a:ext cx="384048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22122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0" y="5175504"/>
            <a:ext cx="914400" cy="274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0" y="51755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THIS QTR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1023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A"/>
                </a:solidFill>
              </a:rPr>
              <a:t>Launch a formal customer referral program with meaningful incentives to activate the lowest-volume but historically highest-conver…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55955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0"/>
                </a:solidFill>
              </a:rPr>
              <a:t>↗ Referral leads converting at 10%+ would add $5-8M in pipeline value within two quarters, at minimal acquisition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