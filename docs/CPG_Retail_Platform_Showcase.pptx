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E4A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E4A"/>
                </a:solidFill>
                <a:latin typeface="Arial"/>
              </a:rPr>
              <a:t>Blended ROAS by Channel (Simulated Output)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009B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E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9B8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A62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Email</c:v>
                  </c:pt>
                  <c:pt idx="1">
                    <c:v>FB/Instagram</c:v>
                  </c:pt>
                  <c:pt idx="2">
                    <c:v>Paid Search</c:v>
                  </c:pt>
                  <c:pt idx="3">
                    <c:v>TV/CTV</c:v>
                  </c:pt>
                  <c:pt idx="4">
                    <c:v>Influencer</c:v>
                  </c:pt>
                  <c:pt idx="5">
                    <c:v>TikTok</c:v>
                  </c:pt>
                  <c:pt idx="6">
                    <c:v>Display</c:v>
                  </c:pt>
                  <c:pt idx="7">
                    <c:v>Reddit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6.39</c:v>
                </c:pt>
                <c:pt idx="1">
                  <c:v>2.6</c:v>
                </c:pt>
                <c:pt idx="2">
                  <c:v>2.53</c:v>
                </c:pt>
                <c:pt idx="3">
                  <c:v>2.34</c:v>
                </c:pt>
                <c:pt idx="4">
                  <c:v>2.29</c:v>
                </c:pt>
                <c:pt idx="5">
                  <c:v>1.83</c:v>
                </c:pt>
                <c:pt idx="6">
                  <c:v>1.81</c:v>
                </c:pt>
                <c:pt idx="7">
                  <c:v>1.61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2E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E4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286000"/>
            <a:ext cx="228600" cy="2286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3716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CPG &amp; Retail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097280" y="23317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9B8E"/>
                </a:solidFill>
              </a:rPr>
              <a:t>Intelligence Platform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097280" y="34290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8E4"/>
                </a:solidFill>
              </a:rPr>
              <a:t>Sales Forecasting  ·  Marketing Mix Modelling  ·  AI-Powered Insights  ·  Executive Decks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4114800"/>
            <a:ext cx="9144000" cy="0"/>
          </a:xfrm>
          <a:prstGeom prst="line">
            <a:avLst/>
          </a:prstGeom>
          <a:noFill/>
          <a:ln w="12700">
            <a:solidFill>
              <a:srgbClr val="009B8E"/>
            </a:solidFill>
            <a:prstDash val="sysDash"/>
          </a:ln>
        </p:spPr>
      </p:sp>
      <p:sp>
        <p:nvSpPr>
          <p:cNvPr id="8" name="Text 6"/>
          <p:cNvSpPr/>
          <p:nvPr/>
        </p:nvSpPr>
        <p:spPr>
          <a:xfrm>
            <a:off x="1097280" y="4343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</a:rPr>
              <a:t>Built on GCP  ·  FastAPI  ·  BigQuery  ·  Claude AI  ·  Prophet · XGBoost · Ridge MMM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6035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90"/>
                </a:solidFill>
              </a:rPr>
              <a:t>2023 – 2024  |  Production-Ready  |  GitHub Portfolio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Business Problem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D4A6B"/>
                </a:solidFill>
              </a:rPr>
              <a:t>CPG and retail brands are flying blind across their most important decisions.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874520"/>
            <a:ext cx="352044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392B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Fragmented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CRM, eCommerce, POS, and ad platform data sit in separate silos — teams spend weeks aligning numbers before any analysis can begin.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874520"/>
            <a:ext cx="35204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A623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45262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No Marketing Accountability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Brands spend millions across TV, paid search, social, and influencers with no reliable way to measure what actually drives sales.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0" y="1874520"/>
            <a:ext cx="35204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1874520"/>
            <a:ext cx="3520440" cy="7315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0116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B8E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412480" y="25786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Reactive, Not Predictive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12480" y="3127248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A90"/>
                </a:solidFill>
              </a:rPr>
              <a:t>Leaders discover revenue misses at month-end. There is no early-warning system, no forecast, and no recommended action until it is too late.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B8E"/>
                </a:solidFill>
              </a:rPr>
              <a:t>This platform solves all three — in one unified system.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Platform Architecture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10972800" cy="65836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23444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DATA SOURCES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64024" y="123444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CRM · eCommerce · POS · Ad Platforms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080760" y="189280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103120"/>
            <a:ext cx="1097280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210312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BIGQUERY LAYERS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64024" y="21031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raw → staging → mart → ML → monitoring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80760" y="276148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2971800"/>
            <a:ext cx="5212080" cy="65836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297180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ML MODELS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4950" y="297180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Forecasting (Prophet/XGBoost)  ·  MMM (Ridge + Adstock)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0" y="363016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0720" y="2971800"/>
            <a:ext cx="5212080" cy="65836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97880" y="297180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MONITORING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41310" y="297180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Anomalies · Freshness · Schema Drift · Model Drift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3840480"/>
            <a:ext cx="10972800" cy="65836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3840480"/>
            <a:ext cx="4169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DASHBOARD 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64024" y="384048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FastAPI  ·  Dynamic Filters  ·  Confidence Warnings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80760" y="4498848"/>
            <a:ext cx="0" cy="146304"/>
          </a:xfrm>
          <a:prstGeom prst="line">
            <a:avLst/>
          </a:prstGeom>
          <a:noFill/>
          <a:ln w="19050">
            <a:solidFill>
              <a:srgbClr val="D0D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4709160"/>
            <a:ext cx="5212080" cy="65836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1520" y="470916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INSIGHTS LAYER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74950" y="47091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Claude API  ·  Trends · Risks · Recommendations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760720" y="4709160"/>
            <a:ext cx="5212080" cy="6583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897880" y="4709160"/>
            <a:ext cx="19805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EXEC DECK BUILDER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41310" y="4709160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</a:rPr>
              <a:t>Auto-generated PPTX  ·  Google Slides Upload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90"/>
                </a:solidFill>
              </a:rPr>
              <a:t>Everything flows top-to-bottom: raw data becomes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Data Foundation — 2 Years of Synthetic Reality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4A6B"/>
                </a:solidFill>
              </a:rPr>
              <a:t>The platform ships with a full 2-year synthetic dataset (Jan 2023 – Dec 2024) that mirrors real CPG business patterns — seasonality, promotions, lagged media effects, and channel interactions.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27432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Online Sales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9B8E"/>
                </a:solidFill>
              </a:rPr>
              <a:t>8,772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Daily orders, revenue &amp; AOV across DTC, Amazon, and Walmart.com — with seasonal peaks and promotional lift events.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920240"/>
            <a:ext cx="274320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Offline Sales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2044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2E4A"/>
                </a:solidFill>
              </a:rPr>
              <a:t>8,400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352044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Weekly store-level POS data by region and format. Captures distribution expansion, regional mix and promo periods.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920240"/>
            <a:ext cx="27432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CRM Funnel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4652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623"/>
                </a:solidFill>
              </a:rPr>
              <a:t>25,019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44652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4652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Full lead → MQL → SQL → Opportunity → Closed Won pipeline with realistic conversion rates and deal values.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235440" y="1920240"/>
            <a:ext cx="2743200" cy="42519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235440" y="1920240"/>
            <a:ext cx="2743200" cy="64008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72600" y="202996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E4A"/>
                </a:solidFill>
              </a:rPr>
              <a:t>Media Spend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372600" y="25603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4A6B"/>
                </a:solidFill>
              </a:rPr>
              <a:t>630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9372600" y="32461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90"/>
                </a:solidFill>
              </a:rPr>
              <a:t>rows generated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372600" y="3657600"/>
            <a:ext cx="2468880" cy="0"/>
          </a:xfrm>
          <a:prstGeom prst="line">
            <a:avLst/>
          </a:prstGeom>
          <a:noFill/>
          <a:ln w="6350">
            <a:solidFill>
              <a:srgbClr val="D0D8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72600" y="3749040"/>
            <a:ext cx="24688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Weekly channel spend across 8 channels with adstock carryover, Hill saturation, ROAS, CPC, CTR, and conversions.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Sales Forecasting — Prophet &amp; XGBoost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64008" cy="4572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188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4A"/>
                </a:solidFill>
              </a:rPr>
              <a:t>How It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430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Chronological Split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3000" y="208483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Data is split 70% train / 15% validation / 15% test — strictly by date. No random shuffling. No data leakage.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78892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27432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Model Selection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309067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Prophet captures yearly + weekly seasonality with holiday effects. XGBoost uses engineered time features and external regressors.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" y="37490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Evaluation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409651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MAPE, RMSE, and R² computed on the hold-out test set. Confidence warnings fire automatically if MAPE &gt; 20% or R² &lt; 0.50.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4800600"/>
            <a:ext cx="384048" cy="384048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800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" y="47548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Rolling Retraining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5102352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As new actuals arrive, the model can be retrained on demand or on a schedule without re-running the full pipeline.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1143000"/>
            <a:ext cx="64008" cy="4572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1887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4A"/>
                </a:solidFill>
              </a:rPr>
              <a:t>What It Outputs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92240" y="18105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0" y="17373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Forecast: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675120" y="20848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90-day forward revenue projection with 90% confidence intervals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27249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26517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Actual vs Predicted: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29992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Test-set comparison to validate model accuracy before trusting forecasts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36393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0" y="35661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MAPE: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75120" y="39136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Mean Absolute Percentage Error — primary accuracy metric for business users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92240" y="45537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44805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Confidence Warning: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75120" y="48280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Automatic plain-English warning when model uncertainty is too high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92240" y="5468112"/>
            <a:ext cx="73152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0" y="53949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API Endpoint: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675120" y="574243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GET /forecast/sales?model=prophet&amp;horizon_days=90&amp;channel=DTC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Marketing Mix Model — What's Really Driving Your Sales?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MMM attributes revenue to each marketing channel — accounting for time-lagged effects (adstock) and diminishing returns (saturation).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59436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783080"/>
            <a:ext cx="64008" cy="32004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0" y="18288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4A"/>
                </a:solidFill>
              </a:rPr>
              <a:t>MMM Key Concepts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58000" y="240487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59168" y="233172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Adstock / Carryover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059168" y="267919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Media spend in past weeks still drives sales today. TV has the longest carryover (~70%); Email decays fast (~10%).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0" y="341071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59168" y="333756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Saturation Curve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059168" y="368503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Doubling your spend does not double your returns. The Hill function models where each channel starts to plateau.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0" y="441655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59168" y="434340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Channel Contribution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059168" y="469087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The % of total revenue attributable to each channel — not just last click, but true causal contribution.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0" y="5422392"/>
            <a:ext cx="73152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59168" y="5349240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E4A"/>
                </a:solidFill>
              </a:rPr>
              <a:t>Incremental ROI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059168" y="5696712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Revenue generated per dollar spent — accounting for both diminishing returns and media interaction effects.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521208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9B8E"/>
                </a:solidFill>
              </a:rPr>
              <a:t>API:  GET /attribution/channel-contribution  ·  GET /attribution/spend-efficiency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Dashboard API — FastAPI on Port 8000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Every metric in the platform is queryable via a REST API. Dynamic filters, confidence warnings, and live data — all in one call.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2996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07008" y="19019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/kpis/summary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394960" y="1920240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Total revenue, ROAS, win rate, media spend — all in one call. Supports date range filters.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42032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697480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6974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207008" y="256946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/kpis/trend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94960" y="2587752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Revenue trend at daily / weekly / monthly granularity across online and offline channels.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209544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364992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36499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07008" y="323697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/forecast/sales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94960" y="3255264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Run Prophet or XGBoost forecast. Filter by channel, region, or date. Returns metrics + CI bands.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877056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032504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032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207008" y="390448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/attribution/channel-contribution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94960" y="3922776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MMM output: channel contribution %, incremental revenue, and ROI per channel.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544568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4700016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470001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207008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/attribution/spend-efficiency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94960" y="4590288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CPM, CTR, CVR, CPA, and ROAS aggregated by channel over the selected period.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12080"/>
            <a:ext cx="11247120" cy="621792"/>
          </a:xfrm>
          <a:prstGeom prst="rect">
            <a:avLst/>
          </a:prstGeom>
          <a:solidFill>
            <a:srgbClr val="F4F7FB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5367528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3675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207008" y="52395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/crm/funnel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94960" y="5257800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Stage-by-stage conversion rates, win rate, average deal value, and pipeline value.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5879592"/>
            <a:ext cx="11247120" cy="621792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6035040"/>
            <a:ext cx="640080" cy="2926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0350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GET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207008" y="590702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E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/crm/by-source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94960" y="5925312"/>
            <a:ext cx="6126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Funnel performance broken down by lead source — identify highest-value acquisition channels.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623"/>
                </a:solidFill>
              </a:rPr>
              <a:t>⚠  Confidence warnings fire automatically when filters reduce data to fewer than 30 rows.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AI-Powered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Business Intelligence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26517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Claude analyses every dashboard output and generates plain-English insights automatically — no analyst required.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3931920"/>
            <a:ext cx="4572000" cy="2377440"/>
          </a:xfrm>
          <a:prstGeom prst="rect">
            <a:avLst/>
          </a:prstGeom>
          <a:solidFill>
            <a:srgbClr val="1A2E4A"/>
          </a:solidFill>
          <a:ln w="1905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0D8E4"/>
                </a:solidFill>
              </a:rPr>
              <a:t>"Email delivers 6.39x ROAS yet receives only 3.5% of media budget, while TV/CTV absorbs 37% of spend at a mediocre 2.34x return — rebalancing this allocation is the single highest-impact lever available."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6172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90"/>
                </a:solidFill>
              </a:rPr>
              <a:t>— Actual Claude output from this platform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577840" y="1234440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60720" y="114300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Executive Summary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760720" y="152704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3-4 sentence business performance story in clear language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77840" y="2130552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20391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Revenue Performance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60720" y="2423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Online vs offline dynamics, top/bottom segments, MoM trends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3026664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60720" y="2935224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Channel Assessment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760720" y="331927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Top performers, underperformers, budget reallocation advice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577840" y="3922776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60720" y="3831336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Funnel Health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60720" y="421538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Conversion assessment, lead quality by source, sales actions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577840" y="4818888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60720" y="4727448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Risks &amp; Opportunities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0720" y="511149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Prioritised risks with severity + 3 near-term opportunities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577840" y="5715000"/>
            <a:ext cx="64008" cy="347472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0" y="562356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Recommended Actions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60720" y="60076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0D8E4"/>
                </a:solidFill>
              </a:rPr>
              <a:t>Top 5 actions with expected impact and urgency (Immediate / This Quarter / Strategic)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Executive Deck Generation — From Data to Boardroom in Seconds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The platform automatically builds a branded PPTX executive presentation from the AI insights report — ready to present with no manual work.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508760" cy="11887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Title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75688" y="1874520"/>
            <a:ext cx="1508760" cy="118872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75688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75688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Exec Summary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94176" y="1874520"/>
            <a:ext cx="1508760" cy="1188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94176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94176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Channels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694176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12664" y="1874520"/>
            <a:ext cx="1508760" cy="1188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12664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12664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Budget Optimizer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12664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931152" y="1874520"/>
            <a:ext cx="1508760" cy="11887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931152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31152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Sales Funnel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931152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549640" y="1874520"/>
            <a:ext cx="1508760" cy="118872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54964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549640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Risks &amp; Opps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549640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0168128" y="1874520"/>
            <a:ext cx="1508760" cy="1188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168128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ADCFC"/>
                </a:solidFill>
              </a:rPr>
              <a:t>07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168128" y="2331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Actions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168128" y="3063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90"/>
                </a:solidFill>
              </a:rPr>
              <a:t>slide 07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520440"/>
            <a:ext cx="11247120" cy="502920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5204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deck_generation/generate_deck.py --upload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720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Auto-generated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5836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Built entirely from the insights JSON — no human editing required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338328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38328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8444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Branded design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58444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Custom colour palette, KPI boxes, risk indicators, and priority tags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30936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30936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1052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Google Slides ready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51052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--upload flag converts and uploads to Google Drive automatically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9235440" y="4206240"/>
            <a:ext cx="274320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9235440" y="4206240"/>
            <a:ext cx="64008" cy="23317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436608" y="425196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Always current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436608" y="4736592"/>
            <a:ext cx="2423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Re-run any time new data lands — deck updates to reflect the latest period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Monitoring &amp; Alerting — Know Before It Breaks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D4A6B"/>
                </a:solidFill>
              </a:rPr>
              <a:t>The platform watches itself. Every pipeline run, data load, and model output is tracked — and alerts are dispatched the moment something goes wrong.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5486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89120" y="2148840"/>
            <a:ext cx="128016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Data Freshness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21792" y="2514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Flags when the latest record in any table is older than the configured threshold (default: 3 days warning, 7 days critical).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383280"/>
            <a:ext cx="54864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3611880"/>
            <a:ext cx="128016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WARNING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1792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Row Count Health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" y="3977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Compares recent ingestion volume to a rolling historical average. A 40%+ drop triggers a warning — 60%+ is critical.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84632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4846320"/>
            <a:ext cx="5486400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89120" y="5074920"/>
            <a:ext cx="1280160" cy="2743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CRITICAL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1792" y="5010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Schema Drift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1792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Checks that all expected columns are present after every load. Missing columns trigger an immediate critical alert.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0" y="192024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0" y="1920240"/>
            <a:ext cx="54864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32720" y="2148840"/>
            <a:ext cx="1280160" cy="2743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32720" y="2148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WARNING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65392" y="2084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Statistical Anomaly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65392" y="2514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Z-score and IQR outlier detection on all numeric columns. Level-shift detection using rolling mean deviation.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0" y="338328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0" y="3383280"/>
            <a:ext cx="5486400" cy="54864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332720" y="3611880"/>
            <a:ext cx="1280160" cy="2743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32720" y="36118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INFO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65392" y="35478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Model Degradation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65392" y="3977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MAPE and R² are logged after every model run. Degradation beyond threshold flags for retraining.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4846320"/>
            <a:ext cx="548640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4846320"/>
            <a:ext cx="5486400" cy="54864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32720" y="5074920"/>
            <a:ext cx="1280160" cy="27432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0" y="5074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INFO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65392" y="5010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Slack Alerts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65392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All critical and warning alerts are dispatched to a configured Slack webhook with root-cause hints and severity labels.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0584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Business Impact — What This Platform Unlocks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$78.8M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Combined 2-Year Revenue Modelled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2.21×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33756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Blended ROAS · 8 Channels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170432"/>
            <a:ext cx="256032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6.39×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2648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Email ROAS — Top Performing Channel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23960" y="1170432"/>
            <a:ext cx="2560320" cy="12344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823960" y="1170432"/>
            <a:ext cx="256032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307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E4A"/>
                </a:solidFill>
              </a:rPr>
              <a:t>25,019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915400" y="19933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0"/>
                </a:solidFill>
              </a:rPr>
              <a:t>CRM Contacts Tracked End-to-End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74320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743200"/>
            <a:ext cx="54864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28803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Replace 4 separate tools with one platform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40156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CRM analytics, media attribution, sales forecasting, and executive reporting — unified in a single system with a shared data model.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274320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09360" y="2743200"/>
            <a:ext cx="548640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8803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Cut budget waste with MMM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340156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Our synthetic data shows Email delivers 2.7× better ROAS than TV/CTV — yet receives over 10× less budget. MMM makes this visible and actionable.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466344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4663440"/>
            <a:ext cx="5486400" cy="64008"/>
          </a:xfrm>
          <a:prstGeom prst="rect">
            <a:avLst/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00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Catch revenue problems 30 days earlier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53218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Rolling forecasts with confidence intervals give sales and marketing leadership a 30–90 day view, turning reactive fire-fighting into proactive planning.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0" y="4663440"/>
            <a:ext cx="54864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309360" y="4663440"/>
            <a:ext cx="5486400" cy="64008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92240" y="4800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</a:rPr>
              <a:t>Zero analyst hours for executive reporting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492240" y="532180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90"/>
                </a:solidFill>
              </a:rPr>
              <a:t>From raw data to a boardroom-ready deck in minutes — not days. The insights and deck generation layer eliminates the manual reporting cycle entirely.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280160"/>
            <a:ext cx="228600" cy="2286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7315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Run It Yourself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97280" y="1508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8E4"/>
                </a:solidFill>
              </a:rPr>
              <a:t>Three commands. Full platform. No cloud account needed.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237744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3317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Generate 2 years of synthetic data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91640" y="276148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74520" y="276148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synthetic_data/generate_all.py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97280" y="365760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61188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Start the dashboard API on port 8000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691640" y="404164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4520" y="404164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api.main:app --reload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97280" y="4937760"/>
            <a:ext cx="457200" cy="457200"/>
          </a:xfrm>
          <a:prstGeom prst="ellipse">
            <a:avLst/>
          </a:prstGeom>
          <a:solidFill>
            <a:srgbClr val="009B8E"/>
          </a:solidFill>
          <a:ln w="12700">
            <a:solidFill>
              <a:srgbClr val="009B8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89204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0D8E4"/>
                </a:solidFill>
              </a:rPr>
              <a:t>Generate AI insights + exec deck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691640" y="5321808"/>
            <a:ext cx="10058400" cy="438912"/>
          </a:xfrm>
          <a:prstGeom prst="rect">
            <a:avLst/>
          </a:prstGeom>
          <a:solidFill>
            <a:srgbClr val="2D4A6B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5321808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9B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insights/generate_insights.py &amp;&amp; python3 deck_generation/generate_deck.py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97280" y="6400800"/>
            <a:ext cx="10607040" cy="0"/>
          </a:xfrm>
          <a:prstGeom prst="line">
            <a:avLst/>
          </a:prstGeom>
          <a:noFill/>
          <a:ln w="9525">
            <a:solidFill>
              <a:srgbClr val="2D4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6492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A90"/>
                </a:solidFill>
              </a:rPr>
              <a:t>github.com/jessleung131-prog  ·  Docs at /docs after starting the API  ·  Built with Claude Code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CPG &amp; Retail Intelligence Platform — Showcase</dc:title>
  <dc:subject>PptxGenJS Presentation</dc:subject>
  <dc:creator>CPG Intelligence Platform</dc:creator>
  <cp:lastModifiedBy>CPG Intelligence Platform</cp:lastModifiedBy>
  <cp:revision>1</cp:revision>
  <dcterms:created xsi:type="dcterms:W3CDTF">2026-05-05T03:58:20Z</dcterms:created>
  <dcterms:modified xsi:type="dcterms:W3CDTF">2026-05-05T03:58:20Z</dcterms:modified>
</cp:coreProperties>
</file>